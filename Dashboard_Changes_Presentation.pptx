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son Blakley" userId="cca77d4b-b4b8-4198-a554-b402955cb6ac" providerId="ADAL" clId="{2A20B5DB-1ADD-48BD-8FE1-793B81D4DA6B}"/>
    <pc:docChg chg="custSel modSld">
      <pc:chgData name="Jason Blakley" userId="cca77d4b-b4b8-4198-a554-b402955cb6ac" providerId="ADAL" clId="{2A20B5DB-1ADD-48BD-8FE1-793B81D4DA6B}" dt="2026-05-05T18:28:54.410" v="22" actId="27636"/>
      <pc:docMkLst>
        <pc:docMk/>
      </pc:docMkLst>
      <pc:sldChg chg="modSp mod">
        <pc:chgData name="Jason Blakley" userId="cca77d4b-b4b8-4198-a554-b402955cb6ac" providerId="ADAL" clId="{2A20B5DB-1ADD-48BD-8FE1-793B81D4DA6B}" dt="2026-05-05T18:27:46.238" v="6" actId="20577"/>
        <pc:sldMkLst>
          <pc:docMk/>
          <pc:sldMk cId="0" sldId="258"/>
        </pc:sldMkLst>
        <pc:spChg chg="mod">
          <ac:chgData name="Jason Blakley" userId="cca77d4b-b4b8-4198-a554-b402955cb6ac" providerId="ADAL" clId="{2A20B5DB-1ADD-48BD-8FE1-793B81D4DA6B}" dt="2026-05-05T18:27:46.238" v="6" actId="20577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Jason Blakley" userId="cca77d4b-b4b8-4198-a554-b402955cb6ac" providerId="ADAL" clId="{2A20B5DB-1ADD-48BD-8FE1-793B81D4DA6B}" dt="2026-05-05T18:27:51.438" v="10" actId="20577"/>
        <pc:sldMkLst>
          <pc:docMk/>
          <pc:sldMk cId="0" sldId="259"/>
        </pc:sldMkLst>
        <pc:spChg chg="mod">
          <ac:chgData name="Jason Blakley" userId="cca77d4b-b4b8-4198-a554-b402955cb6ac" providerId="ADAL" clId="{2A20B5DB-1ADD-48BD-8FE1-793B81D4DA6B}" dt="2026-05-05T18:27:51.438" v="10" actId="20577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Jason Blakley" userId="cca77d4b-b4b8-4198-a554-b402955cb6ac" providerId="ADAL" clId="{2A20B5DB-1ADD-48BD-8FE1-793B81D4DA6B}" dt="2026-05-05T18:27:56.989" v="14" actId="20577"/>
        <pc:sldMkLst>
          <pc:docMk/>
          <pc:sldMk cId="0" sldId="260"/>
        </pc:sldMkLst>
        <pc:spChg chg="mod">
          <ac:chgData name="Jason Blakley" userId="cca77d4b-b4b8-4198-a554-b402955cb6ac" providerId="ADAL" clId="{2A20B5DB-1ADD-48BD-8FE1-793B81D4DA6B}" dt="2026-05-05T18:27:56.989" v="14" actId="20577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Jason Blakley" userId="cca77d4b-b4b8-4198-a554-b402955cb6ac" providerId="ADAL" clId="{2A20B5DB-1ADD-48BD-8FE1-793B81D4DA6B}" dt="2026-05-05T18:28:20.811" v="18" actId="27636"/>
        <pc:sldMkLst>
          <pc:docMk/>
          <pc:sldMk cId="0" sldId="262"/>
        </pc:sldMkLst>
        <pc:spChg chg="mod">
          <ac:chgData name="Jason Blakley" userId="cca77d4b-b4b8-4198-a554-b402955cb6ac" providerId="ADAL" clId="{2A20B5DB-1ADD-48BD-8FE1-793B81D4DA6B}" dt="2026-05-05T18:28:20.811" v="18" actId="27636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Jason Blakley" userId="cca77d4b-b4b8-4198-a554-b402955cb6ac" providerId="ADAL" clId="{2A20B5DB-1ADD-48BD-8FE1-793B81D4DA6B}" dt="2026-05-05T18:28:37.510" v="20" actId="5793"/>
        <pc:sldMkLst>
          <pc:docMk/>
          <pc:sldMk cId="0" sldId="263"/>
        </pc:sldMkLst>
        <pc:spChg chg="mod">
          <ac:chgData name="Jason Blakley" userId="cca77d4b-b4b8-4198-a554-b402955cb6ac" providerId="ADAL" clId="{2A20B5DB-1ADD-48BD-8FE1-793B81D4DA6B}" dt="2026-05-05T18:28:37.510" v="20" actId="5793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Jason Blakley" userId="cca77d4b-b4b8-4198-a554-b402955cb6ac" providerId="ADAL" clId="{2A20B5DB-1ADD-48BD-8FE1-793B81D4DA6B}" dt="2026-05-05T18:28:54.410" v="22" actId="27636"/>
        <pc:sldMkLst>
          <pc:docMk/>
          <pc:sldMk cId="0" sldId="264"/>
        </pc:sldMkLst>
        <pc:spChg chg="mod">
          <ac:chgData name="Jason Blakley" userId="cca77d4b-b4b8-4198-a554-b402955cb6ac" providerId="ADAL" clId="{2A20B5DB-1ADD-48BD-8FE1-793B81D4DA6B}" dt="2026-05-05T18:28:54.410" v="22" actId="27636"/>
          <ac:spMkLst>
            <pc:docMk/>
            <pc:sldMk cId="0" sldId="264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72CE"/>
                </a:solidFill>
              </a:defRPr>
            </a:pPr>
            <a:r>
              <a:t>Customer Ticketing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323232"/>
                </a:solidFill>
              </a:defRPr>
            </a:pPr>
            <a:r>
              <a:t>Comprehensive Improvements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969696"/>
                </a:solidFill>
              </a:defRPr>
            </a:pPr>
            <a:r>
              <a:t>January - May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69696"/>
                </a:solidFill>
              </a:defRPr>
            </a:pPr>
            <a:r>
              <a:t>Prepared by: Jason Blakley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72CE"/>
                </a:solidFill>
              </a:defRPr>
            </a:pPr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Transformed the dashboard into a scalable, enterprise-grade analytics platform</a:t>
            </a:r>
          </a:p>
          <a:p>
            <a:pPr>
              <a:defRPr sz="1800"/>
            </a:pPr>
            <a:r>
              <a:t>15+ major improvements implemented</a:t>
            </a:r>
          </a:p>
          <a:p>
            <a:pPr>
              <a:defRPr sz="1800"/>
            </a:pPr>
            <a:r>
              <a:t>70% performance improvement (10 min → 3 min load time)</a:t>
            </a:r>
          </a:p>
          <a:p>
            <a:pPr>
              <a:defRPr sz="1800"/>
            </a:pPr>
            <a:r>
              <a:t>62% reduction in complexity (16 files → 6 files)</a:t>
            </a:r>
          </a:p>
          <a:p>
            <a:pPr>
              <a:defRPr sz="1800"/>
            </a:pPr>
            <a:r>
              <a:t>Zero unplanned downtime maintained</a:t>
            </a:r>
          </a:p>
          <a:p>
            <a:pPr>
              <a:defRPr sz="1800"/>
            </a:pPr>
            <a:r>
              <a:t>Comprehensive usage tracking at no additional cost</a:t>
            </a:r>
          </a:p>
          <a:p>
            <a:pPr>
              <a:defRPr sz="1800"/>
            </a:pPr>
            <a:r>
              <a:t>28 months of historical data (Jan 2024 - Apr 2026)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72CE"/>
                </a:solidFill>
              </a:defRPr>
            </a:pPr>
            <a:r>
              <a:t>The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  </a:t>
            </a:r>
            <a:r>
              <a:rPr dirty="0"/>
              <a:t>Growing Pains</a:t>
            </a:r>
          </a:p>
          <a:p>
            <a:pPr>
              <a:defRPr sz="1800"/>
            </a:pPr>
            <a:r>
              <a:rPr dirty="0"/>
              <a:t>Growing data volume (16+ monthly files)</a:t>
            </a:r>
          </a:p>
          <a:p>
            <a:pPr>
              <a:defRPr sz="1800"/>
            </a:pPr>
            <a:r>
              <a:rPr dirty="0"/>
              <a:t>Deployment timeouts with large datasets</a:t>
            </a:r>
          </a:p>
          <a:p>
            <a:pPr>
              <a:defRPr sz="1800"/>
            </a:pPr>
            <a:r>
              <a:rPr dirty="0"/>
              <a:t>No visibility into dashboard usage</a:t>
            </a:r>
          </a:p>
          <a:p>
            <a:pPr>
              <a:defRPr sz="1800"/>
            </a:pPr>
            <a:r>
              <a:rPr dirty="0"/>
              <a:t>Complex and time-consuming monthly updates (60+ minutes)</a:t>
            </a:r>
          </a:p>
          <a:p>
            <a:pPr>
              <a:defRPr sz="1800"/>
            </a:pPr>
            <a:r>
              <a:rPr dirty="0"/>
              <a:t>Performance degradation as data grew</a:t>
            </a:r>
          </a:p>
          <a:p>
            <a:pPr>
              <a:defRPr sz="1800"/>
            </a:pPr>
            <a:r>
              <a:rPr dirty="0"/>
              <a:t>Risk of service disruption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72CE"/>
                </a:solidFill>
              </a:defRPr>
            </a:pPr>
            <a:r>
              <a:t>Solution: Data Architecture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 </a:t>
            </a:r>
            <a:r>
              <a:rPr dirty="0"/>
              <a:t>Consolidated Yearly File Structure</a:t>
            </a:r>
          </a:p>
          <a:p>
            <a:pPr>
              <a:defRPr sz="1800"/>
            </a:pPr>
            <a:r>
              <a:rPr dirty="0"/>
              <a:t>Created Merged_data_2025.csv (684 MB)</a:t>
            </a:r>
          </a:p>
          <a:p>
            <a:pPr>
              <a:defRPr sz="1800"/>
            </a:pPr>
            <a:r>
              <a:rPr dirty="0"/>
              <a:t>Reduced from 16 files to 6 files (62% reduction)</a:t>
            </a:r>
          </a:p>
          <a:p>
            <a:pPr>
              <a:defRPr sz="1800"/>
            </a:pPr>
            <a:r>
              <a:rPr dirty="0"/>
              <a:t>70% faster startup time (10 min → 3 min)</a:t>
            </a:r>
          </a:p>
          <a:p>
            <a:pPr>
              <a:defRPr sz="1800"/>
            </a:pPr>
            <a:r>
              <a:rPr dirty="0"/>
              <a:t>40% faster data loading</a:t>
            </a:r>
          </a:p>
          <a:p>
            <a:pPr>
              <a:defRPr sz="1800"/>
            </a:pPr>
            <a:r>
              <a:rPr dirty="0"/>
              <a:t>Scalable for future growth</a:t>
            </a:r>
          </a:p>
          <a:p>
            <a:pPr>
              <a:defRPr sz="1800"/>
            </a:pPr>
            <a:r>
              <a:rPr dirty="0"/>
              <a:t>Eliminated deployment timeout issues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72CE"/>
                </a:solidFill>
              </a:defRPr>
            </a:pPr>
            <a:r>
              <a:t>Solution: Reliability &amp;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 </a:t>
            </a:r>
            <a:r>
              <a:rPr dirty="0"/>
              <a:t>Background Loading System</a:t>
            </a:r>
          </a:p>
          <a:p>
            <a:pPr>
              <a:defRPr sz="1800"/>
            </a:pPr>
            <a:r>
              <a:rPr dirty="0"/>
              <a:t>Dual-port architecture (health check + main app)</a:t>
            </a:r>
          </a:p>
          <a:p>
            <a:pPr>
              <a:defRPr sz="1800"/>
            </a:pPr>
            <a:r>
              <a:rPr dirty="0"/>
              <a:t>100% deployment success rate</a:t>
            </a:r>
          </a:p>
          <a:p>
            <a:pPr>
              <a:defRPr sz="1800"/>
            </a:pPr>
            <a:r>
              <a:rPr dirty="0"/>
              <a:t>Passes health checks while loading 2+ GB of data</a:t>
            </a:r>
          </a:p>
          <a:p>
            <a:pPr lvl="1">
              <a:defRPr sz="1800"/>
            </a:pPr>
            <a:endParaRPr dirty="0"/>
          </a:p>
          <a:p>
            <a:pPr>
              <a:defRPr sz="1800"/>
            </a:pPr>
            <a:r>
              <a:rPr dirty="0"/>
              <a:t>Comprehensive Usage Tracking</a:t>
            </a:r>
          </a:p>
          <a:p>
            <a:pPr lvl="1">
              <a:defRPr sz="1800"/>
            </a:pPr>
            <a:r>
              <a:rPr dirty="0"/>
              <a:t>Track user logins and dashboard interactions</a:t>
            </a:r>
          </a:p>
          <a:p>
            <a:pPr lvl="1">
              <a:defRPr sz="1800"/>
            </a:pPr>
            <a:r>
              <a:rPr dirty="0"/>
              <a:t>Monitor internal vs external users</a:t>
            </a:r>
          </a:p>
          <a:p>
            <a:pPr lvl="1">
              <a:defRPr sz="1800"/>
            </a:pPr>
            <a:r>
              <a:rPr dirty="0"/>
              <a:t>Zero additional cost (uses existing logs)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72CE"/>
                </a:solidFill>
              </a:defRPr>
            </a:pPr>
            <a:r>
              <a:t>Performance Improvements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2514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72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Before</a:t>
                      </a:r>
                    </a:p>
                  </a:txBody>
                  <a:tcPr>
                    <a:solidFill>
                      <a:srgbClr val="0072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After</a:t>
                      </a:r>
                    </a:p>
                  </a:txBody>
                  <a:tcPr>
                    <a:solidFill>
                      <a:srgbClr val="0072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Improvement</a:t>
                      </a:r>
                    </a:p>
                  </a:txBody>
                  <a:tcPr>
                    <a:solidFill>
                      <a:srgbClr val="0072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File 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16 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6 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62% 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Download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3-5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1-2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60% 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Load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3-5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2-3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40% 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Total Startup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6-10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3-5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70% 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Memory Usage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16 DFs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6 DFs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Major 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2516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Deployment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20% 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72CE"/>
                </a:solidFill>
              </a:defRPr>
            </a:pPr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600" b="1"/>
            </a:pPr>
            <a:r>
              <a:rPr sz="1600" b="1" dirty="0"/>
              <a:t>For Sales Team</a:t>
            </a:r>
          </a:p>
          <a:p>
            <a:pPr lvl="1">
              <a:defRPr sz="1600"/>
            </a:pPr>
            <a:r>
              <a:rPr dirty="0"/>
              <a:t>70% faster dashboard access</a:t>
            </a:r>
          </a:p>
          <a:p>
            <a:pPr lvl="1">
              <a:defRPr sz="1600"/>
            </a:pPr>
            <a:r>
              <a:rPr dirty="0"/>
              <a:t>Current data (through April 2026)</a:t>
            </a:r>
          </a:p>
          <a:p>
            <a:pPr lvl="1">
              <a:defRPr sz="1600"/>
            </a:pPr>
            <a:r>
              <a:rPr dirty="0"/>
              <a:t>Improved accuracy with better date filtering</a:t>
            </a:r>
          </a:p>
          <a:p>
            <a:pPr lvl="1">
              <a:defRPr sz="1600"/>
            </a:pPr>
            <a:r>
              <a:rPr dirty="0"/>
              <a:t>Zero downtime during updates</a:t>
            </a:r>
          </a:p>
          <a:p>
            <a:pPr lvl="1">
              <a:defRPr sz="1600"/>
            </a:pPr>
            <a:endParaRPr dirty="0"/>
          </a:p>
          <a:p>
            <a:pPr>
              <a:defRPr sz="1600" b="1"/>
            </a:pPr>
            <a:r>
              <a:rPr dirty="0"/>
              <a:t>For External Clients</a:t>
            </a:r>
          </a:p>
          <a:p>
            <a:pPr lvl="1">
              <a:defRPr sz="1600"/>
            </a:pPr>
            <a:r>
              <a:rPr dirty="0"/>
              <a:t>Professional, fast experience</a:t>
            </a:r>
          </a:p>
          <a:p>
            <a:pPr lvl="1">
              <a:defRPr sz="1600"/>
            </a:pPr>
            <a:r>
              <a:rPr dirty="0"/>
              <a:t>Always up-to-date data</a:t>
            </a:r>
          </a:p>
          <a:p>
            <a:pPr lvl="1">
              <a:defRPr sz="1600"/>
            </a:pPr>
            <a:r>
              <a:rPr dirty="0"/>
              <a:t>Secure IBM App ID authentication</a:t>
            </a:r>
          </a:p>
          <a:p>
            <a:pPr lvl="1">
              <a:defRPr sz="1600"/>
            </a:pPr>
            <a:endParaRPr dirty="0"/>
          </a:p>
          <a:p>
            <a:pPr>
              <a:defRPr sz="1600" b="1"/>
            </a:pPr>
            <a:r>
              <a:rPr dirty="0"/>
              <a:t>For IT/Operations</a:t>
            </a:r>
          </a:p>
          <a:p>
            <a:pPr lvl="1">
              <a:defRPr sz="1600"/>
            </a:pPr>
            <a:r>
              <a:rPr dirty="0"/>
              <a:t>75% faster monthly updates (60 min → 15 min)</a:t>
            </a:r>
          </a:p>
          <a:p>
            <a:pPr lvl="1">
              <a:defRPr sz="1600"/>
            </a:pPr>
            <a:r>
              <a:rPr dirty="0"/>
              <a:t>Comprehensive usage monitoring</a:t>
            </a:r>
          </a:p>
          <a:p>
            <a:pPr lvl="1">
              <a:defRPr sz="1600"/>
            </a:pPr>
            <a:r>
              <a:rPr dirty="0"/>
              <a:t>Scalable for 3+ years of growth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72CE"/>
                </a:solidFill>
              </a:defRPr>
            </a:pPr>
            <a:r>
              <a:t>Results &amp; ROI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Key Metrics</a:t>
            </a:r>
          </a:p>
          <a:p>
            <a:pPr lvl="1">
              <a:defRPr sz="1600"/>
            </a:pPr>
            <a:r>
              <a:rPr dirty="0"/>
              <a:t>2.8+ million ticket records analyzed</a:t>
            </a:r>
          </a:p>
          <a:p>
            <a:pPr lvl="1">
              <a:defRPr sz="1600"/>
            </a:pPr>
            <a:r>
              <a:rPr dirty="0"/>
              <a:t>28 months of historical data coverage</a:t>
            </a:r>
          </a:p>
          <a:p>
            <a:pPr lvl="1">
              <a:defRPr sz="1600"/>
            </a:pPr>
            <a:r>
              <a:rPr dirty="0"/>
              <a:t>50+ major enterprise clients tracked</a:t>
            </a:r>
          </a:p>
          <a:p>
            <a:pPr marL="457200" lvl="1" indent="0">
              <a:buNone/>
              <a:defRPr sz="1600"/>
            </a:pPr>
            <a:endParaRPr dirty="0"/>
          </a:p>
          <a:p>
            <a:pPr>
              <a:defRPr sz="1600" b="1"/>
            </a:pPr>
            <a:r>
              <a:rPr dirty="0"/>
              <a:t>Cost Efficiency</a:t>
            </a:r>
          </a:p>
          <a:p>
            <a:pPr lvl="1">
              <a:defRPr sz="1600"/>
            </a:pPr>
            <a:r>
              <a:rPr dirty="0"/>
              <a:t>Infrastructure: ~$55/month (unchanged)</a:t>
            </a:r>
          </a:p>
          <a:p>
            <a:pPr lvl="1">
              <a:defRPr sz="1600"/>
            </a:pPr>
            <a:r>
              <a:rPr dirty="0"/>
              <a:t>Development: 30 hours over 4 months</a:t>
            </a:r>
          </a:p>
          <a:p>
            <a:pPr lvl="1">
              <a:defRPr sz="1600"/>
            </a:pPr>
            <a:r>
              <a:rPr dirty="0"/>
              <a:t>Time saved: 45 min/month = 9 hours/year</a:t>
            </a:r>
          </a:p>
          <a:p>
            <a:pPr lvl="1">
              <a:defRPr sz="1600"/>
            </a:pPr>
            <a:r>
              <a:rPr dirty="0"/>
              <a:t>Avoided monitoring costs: $100+/month</a:t>
            </a:r>
          </a:p>
          <a:p>
            <a:pPr lvl="1">
              <a:defRPr sz="1600"/>
            </a:pPr>
            <a:r>
              <a:rPr dirty="0"/>
              <a:t>Zero downtime = maintained sales productivity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72CE"/>
                </a:solidFill>
              </a:defRPr>
            </a:pPr>
            <a:r>
              <a:t>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sz="1600" b="1" dirty="0"/>
              <a:t>Short-term (Next Month)</a:t>
            </a:r>
          </a:p>
          <a:p>
            <a:pPr lvl="1">
              <a:defRPr sz="1600"/>
            </a:pPr>
            <a:r>
              <a:rPr dirty="0"/>
              <a:t>Complete April 2026 deployment</a:t>
            </a:r>
          </a:p>
          <a:p>
            <a:pPr lvl="1">
              <a:defRPr sz="1600"/>
            </a:pPr>
            <a:r>
              <a:rPr dirty="0"/>
              <a:t>Add May 2026 data (15 minutes)</a:t>
            </a:r>
          </a:p>
          <a:p>
            <a:pPr lvl="1">
              <a:defRPr sz="1600"/>
            </a:pPr>
            <a:r>
              <a:rPr dirty="0"/>
              <a:t>Implement automated data validation</a:t>
            </a:r>
          </a:p>
          <a:p>
            <a:pPr lvl="1">
              <a:defRPr sz="1600"/>
            </a:pPr>
            <a:endParaRPr dirty="0"/>
          </a:p>
          <a:p>
            <a:pPr>
              <a:defRPr sz="1600" b="1"/>
            </a:pPr>
            <a:r>
              <a:rPr dirty="0"/>
              <a:t>Medium-term (Next Quarter)</a:t>
            </a:r>
          </a:p>
          <a:p>
            <a:pPr lvl="1">
              <a:defRPr sz="1600"/>
            </a:pPr>
            <a:r>
              <a:rPr dirty="0"/>
              <a:t>Add 'Last Updated' indicator</a:t>
            </a:r>
          </a:p>
          <a:p>
            <a:pPr lvl="1">
              <a:defRPr sz="1600"/>
            </a:pPr>
            <a:r>
              <a:rPr dirty="0"/>
              <a:t>Implement quarterly consolidated files</a:t>
            </a:r>
          </a:p>
          <a:p>
            <a:pPr lvl="1">
              <a:defRPr sz="1600"/>
            </a:pPr>
            <a:r>
              <a:rPr dirty="0"/>
              <a:t>Add automated testing</a:t>
            </a:r>
          </a:p>
          <a:p>
            <a:pPr lvl="1">
              <a:defRPr sz="1600"/>
            </a:pPr>
            <a:r>
              <a:rPr dirty="0"/>
              <a:t>Create user feedback mechanism</a:t>
            </a:r>
          </a:p>
          <a:p>
            <a:pPr lvl="1">
              <a:defRPr sz="1600"/>
            </a:pPr>
            <a:endParaRPr dirty="0"/>
          </a:p>
          <a:p>
            <a:pPr>
              <a:defRPr sz="1600" b="1"/>
            </a:pPr>
            <a:r>
              <a:rPr dirty="0"/>
              <a:t>Long-term (Next 6 Months)</a:t>
            </a:r>
          </a:p>
          <a:p>
            <a:pPr lvl="1">
              <a:defRPr sz="1600"/>
            </a:pPr>
            <a:r>
              <a:rPr dirty="0"/>
              <a:t>Automated monthly data pipeline</a:t>
            </a:r>
          </a:p>
          <a:p>
            <a:pPr lvl="1">
              <a:defRPr sz="1600"/>
            </a:pPr>
            <a:r>
              <a:rPr dirty="0"/>
              <a:t>Predictive analytics features</a:t>
            </a:r>
          </a:p>
          <a:p>
            <a:pPr lvl="1">
              <a:defRPr sz="1600"/>
            </a:pPr>
            <a:r>
              <a:rPr dirty="0"/>
              <a:t>Mobile-responsive design</a:t>
            </a:r>
          </a:p>
          <a:p>
            <a:pPr lvl="1">
              <a:defRPr sz="1600"/>
            </a:pPr>
            <a:r>
              <a:rPr dirty="0"/>
              <a:t>Role-based access control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72CE"/>
                </a:solidFill>
              </a:defRPr>
            </a:pPr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We Achieved</a:t>
            </a:r>
          </a:p>
          <a:p>
            <a:pPr>
              <a:defRPr sz="1800"/>
            </a:pPr>
            <a:r>
              <a:t>✓ Scalable, enterprise-grade analytics platform</a:t>
            </a:r>
          </a:p>
          <a:p>
            <a:pPr>
              <a:defRPr sz="1800"/>
            </a:pPr>
            <a:r>
              <a:t>✓ 70% performance improvement</a:t>
            </a:r>
          </a:p>
          <a:p>
            <a:pPr>
              <a:defRPr sz="1800"/>
            </a:pPr>
            <a:r>
              <a:t>✓ 62% reduction in complexity</a:t>
            </a:r>
          </a:p>
          <a:p>
            <a:pPr>
              <a:defRPr sz="1800"/>
            </a:pPr>
            <a:r>
              <a:t>✓ Zero downtime maintained</a:t>
            </a:r>
          </a:p>
          <a:p>
            <a:pPr>
              <a:defRPr sz="1800"/>
            </a:pPr>
            <a:r>
              <a:t>✓ Comprehensive usage tracking</a:t>
            </a:r>
          </a:p>
          <a:p>
            <a:pPr>
              <a:defRPr sz="1800"/>
            </a:pPr>
            <a:r>
              <a:t>✓ 75% faster monthly updates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Dashboard URL:</a:t>
            </a:r>
          </a:p>
          <a:p>
            <a:pPr>
              <a:defRPr sz="1800"/>
            </a:pPr>
            <a:r>
              <a:t>https://python-appid-app.wt1yl0ero9k.us-south.codeengine.appdomain.cloud/dashboard/</a:t>
            </a:r>
          </a:p>
          <a:p>
            <a:pPr>
              <a:defRPr sz="1800"/>
            </a:pPr>
            <a:endParaRPr/>
          </a:p>
          <a:p>
            <a:pPr algn="ctr">
              <a:defRPr sz="2800" b="1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548</Words>
  <Application>Microsoft Office PowerPoint</Application>
  <PresentationFormat>On-screen Show (4:3)</PresentationFormat>
  <Paragraphs>125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Executive Summary</vt:lpstr>
      <vt:lpstr>The Challenge</vt:lpstr>
      <vt:lpstr>Solution: Data Architecture Transformation</vt:lpstr>
      <vt:lpstr>Solution: Reliability &amp; Monitoring</vt:lpstr>
      <vt:lpstr>Performance Improvements</vt:lpstr>
      <vt:lpstr>Business Impact</vt:lpstr>
      <vt:lpstr>Results &amp; ROI</vt:lpstr>
      <vt:lpstr>Future Roadmap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Jason Blakley</cp:lastModifiedBy>
  <cp:revision>1</cp:revision>
  <dcterms:created xsi:type="dcterms:W3CDTF">2013-01-27T09:14:16Z</dcterms:created>
  <dcterms:modified xsi:type="dcterms:W3CDTF">2026-05-05T18:29:01Z</dcterms:modified>
  <cp:category/>
</cp:coreProperties>
</file>